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arenui interi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78547" y="0"/>
            <a:ext cx="41148" cy="6263640"/>
          </a:xfrm>
          <a:prstGeom prst="rect">
            <a:avLst/>
          </a:prstGeom>
          <a:solidFill>
            <a:srgbClr val="7A0E0C"/>
          </a:solidFill>
          <a:ln/>
        </p:spPr>
      </p:sp>
      <p:pic>
        <p:nvPicPr>
          <p:cNvPr id="4" name="Image 1" descr="University of Canterbur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56032"/>
            <a:ext cx="685800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868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MĀORI DATA SOVEREIGNTY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777240" y="128016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5600" dirty="0"/>
          </a:p>
        </p:txBody>
      </p:sp>
      <p:sp>
        <p:nvSpPr>
          <p:cNvPr id="7" name="Text 3"/>
          <p:cNvSpPr/>
          <p:nvPr/>
        </p:nvSpPr>
        <p:spPr>
          <a:xfrm>
            <a:off x="777240" y="214884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MĀORI DATA</a:t>
            </a:r>
            <a:endParaRPr lang="en-US" sz="5600" dirty="0"/>
          </a:p>
        </p:txBody>
      </p:sp>
      <p:sp>
        <p:nvSpPr>
          <p:cNvPr id="8" name="Text 4"/>
          <p:cNvSpPr/>
          <p:nvPr/>
        </p:nvSpPr>
        <p:spPr>
          <a:xfrm>
            <a:off x="822960" y="320040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routine recode can change identity, visibility, and authority.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502920" y="3703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B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10" name="Text 6"/>
          <p:cNvSpPr/>
          <p:nvPr/>
        </p:nvSpPr>
        <p:spPr>
          <a:xfrm>
            <a:off x="1234440" y="391363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ARGUMENT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34440" y="4224528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3A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Standardisation is useful only when the original meaning remains visible and Māori authority shapes the decision.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7A0E0C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62636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   •   PRASANTHI   •   ROBBIE   •   SAHIL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619695" y="62636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0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Whare whānui — the meeting house where decisions are made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ARE WE CLEANING?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are relationships,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labels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85216" y="1911096"/>
            <a:ext cx="3493008" cy="2717673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pic>
        <p:nvPicPr>
          <p:cNvPr id="6" name="Image 1" descr="Tukutuku panel weav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3383280" cy="26079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4683633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Tukutuku panel weaving — pattern carries meaning, not decoration.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343400" y="196596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 and hapū affiliation fields can contain multiple affiliations, local names, aliases, and responses that do not fit a single broad category.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343400" y="28803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NZ's 2023 design makes that complexity visible: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43400" y="33375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343400" y="344728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443484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coded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 categories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675120" y="33375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675120" y="344728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676656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coded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iwi-related categories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006840" y="33375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006840" y="344728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18" name="Text 14"/>
          <p:cNvSpPr/>
          <p:nvPr/>
        </p:nvSpPr>
        <p:spPr>
          <a:xfrm>
            <a:off x="909828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iwi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343400" y="502920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7A0E0C"/>
          </a:solidFill>
          <a:ln w="12700">
            <a:solidFill>
              <a:srgbClr val="E4D6C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26280" y="5029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 even exists for hapū affiliated to more than one iwi.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HOLDS AND USES IT, AND WHY?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choices travel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real decisions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11680" y="2189988"/>
            <a:ext cx="685800" cy="685800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7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2354580"/>
            <a:ext cx="356616" cy="3566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9718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68680" y="3337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NZ, health and education agencies, researchers, and iwi-controlled platforms.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25112" y="19659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96712" y="2189988"/>
            <a:ext cx="685800" cy="685800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12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354580"/>
            <a:ext cx="356616" cy="3566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25112" y="29718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53712" y="3337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Analysts, service planners, iwi authorities, Māori communities, and decision-makers.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010144" y="19659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381744" y="2189988"/>
            <a:ext cx="685800" cy="685800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17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2354580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10144" y="29718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238744" y="3337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research, service planning, resource decisions, and iwi-led priorities.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5262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4A0705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914400" y="464515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0C9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WHATA — A DIFFERENT GOVERNANCE MODEL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14400" y="4937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Iwi-appointed information managers can shape their own dashboard narrative and priorities.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RISK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tidy recode can erase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 distinction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42062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2221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SELF-IDENTIFIED RESPONSES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68680" y="2651760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6ECDD"/>
          </a:solidFill>
          <a:ln w="9525">
            <a:solidFill>
              <a:srgbClr val="E4D6C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6517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 name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127248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6ECDD"/>
          </a:solidFill>
          <a:ln w="9525">
            <a:solidFill>
              <a:srgbClr val="E4D6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3127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Hapū name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3602736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6ECDD"/>
          </a:solidFill>
          <a:ln w="9525">
            <a:solidFill>
              <a:srgbClr val="E4D6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36027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spelling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4078224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6ECDD"/>
          </a:solidFill>
          <a:ln w="9525">
            <a:solidFill>
              <a:srgbClr val="E4D6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40782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affiliations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92040" y="2971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AE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AE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AE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92040" y="3840480"/>
            <a:ext cx="1005840" cy="320040"/>
          </a:xfrm>
          <a:prstGeom prst="rightArrow">
            <a:avLst/>
          </a:prstGeom>
          <a:solidFill>
            <a:srgbClr val="AE1C1B"/>
          </a:solidFill>
          <a:ln/>
        </p:spPr>
      </p:sp>
      <p:sp>
        <p:nvSpPr>
          <p:cNvPr id="17" name="Shape 14"/>
          <p:cNvSpPr/>
          <p:nvPr/>
        </p:nvSpPr>
        <p:spPr>
          <a:xfrm>
            <a:off x="6035040" y="2057400"/>
            <a:ext cx="4937760" cy="2606040"/>
          </a:xfrm>
          <a:prstGeom prst="roundRect">
            <a:avLst>
              <a:gd name="adj" fmla="val 2807"/>
            </a:avLst>
          </a:prstGeom>
          <a:solidFill>
            <a:srgbClr val="7A0E0C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09360" y="23317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BROAD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309360" y="31546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0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simpler, but potentially less faithful.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0080" y="4892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LOST?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5285232"/>
            <a:ext cx="1193292" cy="411480"/>
          </a:xfrm>
          <a:prstGeom prst="roundRect">
            <a:avLst>
              <a:gd name="adj" fmla="val 50000"/>
            </a:avLst>
          </a:prstGeom>
          <a:solidFill>
            <a:srgbClr val="AE1C1B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285232"/>
            <a:ext cx="11932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034540" y="5285232"/>
            <a:ext cx="1508760" cy="411480"/>
          </a:xfrm>
          <a:prstGeom prst="roundRect">
            <a:avLst>
              <a:gd name="adj" fmla="val 50000"/>
            </a:avLst>
          </a:prstGeom>
          <a:solidFill>
            <a:srgbClr val="AE1C1B"/>
          </a:solidFill>
          <a:ln/>
        </p:spPr>
      </p:sp>
      <p:sp>
        <p:nvSpPr>
          <p:cNvPr id="24" name="Text 21"/>
          <p:cNvSpPr/>
          <p:nvPr/>
        </p:nvSpPr>
        <p:spPr>
          <a:xfrm>
            <a:off x="2034540" y="52852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744468" y="5285232"/>
            <a:ext cx="1508760" cy="411480"/>
          </a:xfrm>
          <a:prstGeom prst="roundRect">
            <a:avLst>
              <a:gd name="adj" fmla="val 50000"/>
            </a:avLst>
          </a:prstGeom>
          <a:solidFill>
            <a:srgbClr val="AE1C1B"/>
          </a:solidFill>
          <a:ln/>
        </p:spPr>
      </p:sp>
      <p:sp>
        <p:nvSpPr>
          <p:cNvPr id="26" name="Text 23"/>
          <p:cNvSpPr/>
          <p:nvPr/>
        </p:nvSpPr>
        <p:spPr>
          <a:xfrm>
            <a:off x="3744468" y="52852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54396" y="5285232"/>
            <a:ext cx="1403604" cy="411480"/>
          </a:xfrm>
          <a:prstGeom prst="roundRect">
            <a:avLst>
              <a:gd name="adj" fmla="val 50000"/>
            </a:avLst>
          </a:prstGeom>
          <a:solidFill>
            <a:srgbClr val="AE1C1B"/>
          </a:solidFill>
          <a:ln/>
        </p:spPr>
      </p:sp>
      <p:sp>
        <p:nvSpPr>
          <p:cNvPr id="28" name="Text 25"/>
          <p:cNvSpPr/>
          <p:nvPr/>
        </p:nvSpPr>
        <p:spPr>
          <a:xfrm>
            <a:off x="5454396" y="5285232"/>
            <a:ext cx="14036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PRINCIPLES CHANGE THE DECISION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becomes 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question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7260" y="2308860"/>
            <a:ext cx="777240" cy="777240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7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98" y="2495398"/>
            <a:ext cx="404165" cy="404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RANGATIRATANGA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874520" y="2743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05840" y="333756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Māori have an inherent right to control the analysis, interpretation, use, and reuse of Māori data.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1005840" y="4434840"/>
            <a:ext cx="4526280" cy="594360"/>
          </a:xfrm>
          <a:prstGeom prst="roundRect">
            <a:avLst>
              <a:gd name="adj" fmla="val 12308"/>
            </a:avLst>
          </a:prstGeom>
          <a:solidFill>
            <a:srgbClr val="F6ECDD"/>
          </a:solidFill>
          <a:ln w="12700">
            <a:solidFill>
              <a:srgbClr val="E4D6C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88720" y="443484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test:  </a:t>
            </a:r>
            <a:pPr indent="0" marL="0">
              <a:buNone/>
            </a:pPr>
            <a:r>
              <a:rPr lang="en-US" sz="1250" i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approve this recode?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63640" y="201168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60820" y="2308860"/>
            <a:ext cx="777240" cy="777240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358" y="249539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WHAKAPAPA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7498080" y="2743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29400" y="333756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has provenance, purpose, context, and future consequences; disaggregation can increase relevance for iwi.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629400" y="4434840"/>
            <a:ext cx="4526280" cy="594360"/>
          </a:xfrm>
          <a:prstGeom prst="roundRect">
            <a:avLst>
              <a:gd name="adj" fmla="val 12308"/>
            </a:avLst>
          </a:prstGeom>
          <a:solidFill>
            <a:srgbClr val="F6ECDD"/>
          </a:solidFill>
          <a:ln w="12700">
            <a:solidFill>
              <a:srgbClr val="E4D6C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812280" y="4434840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test:  </a:t>
            </a:r>
            <a:pPr indent="0" marL="0">
              <a:buNone/>
            </a:pPr>
            <a:r>
              <a:rPr lang="en-US" sz="1250" i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relationships disappear?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930384" y="493776"/>
            <a:ext cx="2039112" cy="1383792"/>
          </a:xfrm>
          <a:prstGeom prst="roundRect">
            <a:avLst>
              <a:gd name="adj" fmla="val 3304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pic>
        <p:nvPicPr>
          <p:cNvPr id="22" name="Image 3" descr="Kaikaranga performing at Waitang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530352"/>
            <a:ext cx="1965960" cy="1310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784080" y="188671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Kaikaranga, Waitangi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ISSUE MATTERS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disappears from data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disappear from decisions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86484" y="2157984"/>
            <a:ext cx="621792" cy="621792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7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14" y="2307214"/>
            <a:ext cx="323332" cy="3233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2862072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04672" y="3154680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recode can change how a person’s affiliations appear.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337560" y="19659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3964" y="2157984"/>
            <a:ext cx="621792" cy="621792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12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194" y="2307214"/>
            <a:ext cx="323332" cy="3233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47288" y="2862072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502152" y="3154680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can become harder to see in aggregated results.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035040" y="19659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981444" y="2157984"/>
            <a:ext cx="621792" cy="621792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17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674" y="2307214"/>
            <a:ext cx="323332" cy="3233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44768" y="2862072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199632" y="3154680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for a change can become impossible to audit.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732520" y="19659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678924" y="2157984"/>
            <a:ext cx="621792" cy="621792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22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8154" y="2307214"/>
            <a:ext cx="323332" cy="3233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842248" y="2862072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USE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8897112" y="3154680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analysts may inherit a simplified value without its context.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40080" y="4206240"/>
            <a:ext cx="8366760" cy="1371600"/>
          </a:xfrm>
          <a:prstGeom prst="roundRect">
            <a:avLst>
              <a:gd name="adj" fmla="val 5333"/>
            </a:avLst>
          </a:prstGeom>
          <a:solidFill>
            <a:srgbClr val="4A0705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914400" y="4343400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C9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BE AFFECTED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914400" y="461772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Māori individuals  •  whānau  •  iwi and hapū  •  data stewards  •  service decision-makers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14400" y="5166360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disappears from data can disappear from decisions.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9153144" y="4169664"/>
            <a:ext cx="2404872" cy="1384745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pic>
        <p:nvPicPr>
          <p:cNvPr id="30" name="Image 5" descr="Waitangi Day gathering at Onuku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4206240"/>
            <a:ext cx="2331720" cy="13115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89720" y="557269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Waitangi Day, Onuku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AND REFLECTION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question is not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simply, ‘Can we merge it?’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corrections can improve data quality. The risk begins when meaning changes without review, context, or reversibility.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77063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D6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AN ERROR?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8404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 value may be valid.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25112" y="26060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53712" y="277063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D6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53712" y="33832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AUTHORITY?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53712" y="38404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is not consent.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10144" y="26060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38744" y="277063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D6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238744" y="33832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REVERSE IT?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38744" y="38404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raw response.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4800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7A0E0C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" y="48006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technically consistent dataset can still be culturally wrong.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CONCRETE RECOMMENDATION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Māori-led approach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data lifecycle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1488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14700" y="2080260"/>
            <a:ext cx="502920" cy="502920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9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401" y="220096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532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22960" y="2834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Participatory, using Te Mana Whakatipu.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70248" y="19659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53128" y="21488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14" name="Text 10"/>
          <p:cNvSpPr/>
          <p:nvPr/>
        </p:nvSpPr>
        <p:spPr>
          <a:xfrm>
            <a:off x="445312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944868" y="2080260"/>
            <a:ext cx="502920" cy="502920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569" y="220096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53128" y="2532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453128" y="2834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Whata — a web-based Māori data platform (tewhata.io).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900416" y="19659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83296" y="21488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21" name="Text 16"/>
          <p:cNvSpPr/>
          <p:nvPr/>
        </p:nvSpPr>
        <p:spPr>
          <a:xfrm>
            <a:off x="808329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10575036" y="2080260"/>
            <a:ext cx="502920" cy="502920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23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737" y="2200961"/>
            <a:ext cx="261518" cy="26151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83296" y="25328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8083296" y="2834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Māori data in Māori hands: control and authority held through Te Whata.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40080" y="3675888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3858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28" name="Text 22"/>
          <p:cNvSpPr/>
          <p:nvPr/>
        </p:nvSpPr>
        <p:spPr>
          <a:xfrm>
            <a:off x="822960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3314700" y="3790188"/>
            <a:ext cx="502920" cy="502920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30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401" y="3910889"/>
            <a:ext cx="261518" cy="26151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2960" y="424281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22960" y="454456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Ongoing, fee-free access for Māori communities; open access needs explicit permission and oversight.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270248" y="3675888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453128" y="3858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35" name="Text 28"/>
          <p:cNvSpPr/>
          <p:nvPr/>
        </p:nvSpPr>
        <p:spPr>
          <a:xfrm>
            <a:off x="4453128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6944868" y="3790188"/>
            <a:ext cx="502920" cy="502920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37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5569" y="3910889"/>
            <a:ext cx="261518" cy="26151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453128" y="424281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4453128" y="454456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Māori-led classification review gate — detailed next.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7900416" y="3675888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083296" y="3858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42" name="Text 34"/>
          <p:cNvSpPr/>
          <p:nvPr/>
        </p:nvSpPr>
        <p:spPr>
          <a:xfrm>
            <a:off x="8083296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Shape 35"/>
          <p:cNvSpPr/>
          <p:nvPr/>
        </p:nvSpPr>
        <p:spPr>
          <a:xfrm>
            <a:off x="10575036" y="3790188"/>
            <a:ext cx="502920" cy="502920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44" name="Image 6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5737" y="3910889"/>
            <a:ext cx="261518" cy="26151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8083296" y="424281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/ USAGE</a:t>
            </a:r>
            <a:endParaRPr lang="en-US" sz="1250" dirty="0"/>
          </a:p>
        </p:txBody>
      </p:sp>
      <p:sp>
        <p:nvSpPr>
          <p:cNvPr id="46" name="Text 37"/>
          <p:cNvSpPr/>
          <p:nvPr/>
        </p:nvSpPr>
        <p:spPr>
          <a:xfrm>
            <a:off x="8083296" y="454456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Full, prior and informed consent at minimum; individual and/or collective.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7A0E0C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48" name="Text 39"/>
          <p:cNvSpPr/>
          <p:nvPr/>
        </p:nvSpPr>
        <p:spPr>
          <a:xfrm>
            <a:off x="640080" y="56235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Māori data in Māori hands.</a:t>
            </a:r>
            <a:endParaRPr lang="en-US" sz="1600" dirty="0"/>
          </a:p>
        </p:txBody>
      </p:sp>
      <p:sp>
        <p:nvSpPr>
          <p:cNvPr id="49" name="Text 4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— ANALYSIS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principle to practice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4A0705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9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Māori-led classification review gate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iwi or hapū value is merged, removed, or assigned a new meaning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4672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862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586484" y="3255264"/>
            <a:ext cx="621792" cy="621792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12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14" y="3404494"/>
            <a:ext cx="323332" cy="3233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RAW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04672" y="438912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self-reported value unchanged.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337560" y="26974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02152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17" name="Text 13"/>
          <p:cNvSpPr/>
          <p:nvPr/>
        </p:nvSpPr>
        <p:spPr>
          <a:xfrm>
            <a:off x="3502152" y="2862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283964" y="3255264"/>
            <a:ext cx="621792" cy="621792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19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194" y="3404494"/>
            <a:ext cx="323332" cy="3233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47472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SEPARATELY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502152" y="438912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any code to a new field.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35040" y="26974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99632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24" name="Text 19"/>
          <p:cNvSpPr/>
          <p:nvPr/>
        </p:nvSpPr>
        <p:spPr>
          <a:xfrm>
            <a:off x="6199632" y="2862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981444" y="3255264"/>
            <a:ext cx="621792" cy="621792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26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674" y="3404494"/>
            <a:ext cx="323332" cy="3233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7220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UNCERTAINTY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199632" y="438912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rare, new, or ambiguous values for Māori review.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8732520" y="26974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897112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31" name="Text 25"/>
          <p:cNvSpPr/>
          <p:nvPr/>
        </p:nvSpPr>
        <p:spPr>
          <a:xfrm>
            <a:off x="8897112" y="2862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9678924" y="3255264"/>
            <a:ext cx="621792" cy="621792"/>
          </a:xfrm>
          <a:prstGeom prst="ellipse">
            <a:avLst/>
          </a:prstGeom>
          <a:solidFill>
            <a:srgbClr val="7A0E0C"/>
          </a:solidFill>
          <a:ln/>
        </p:spPr>
      </p:sp>
      <p:pic>
        <p:nvPicPr>
          <p:cNvPr id="33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8154" y="3404494"/>
            <a:ext cx="323332" cy="3233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86968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+ AUDIT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8897112" y="438912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rule, reviewer, date, effect, and reversal.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640080" y="51937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 </a:t>
            </a:r>
            <a:pPr indent="0" marL="0">
              <a:buNone/>
            </a:pPr>
            <a:r>
              <a:rPr lang="en-US" sz="1150" i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holder owns the gate  •  analyst implements it  •  iwi/hāpu expertise approves meaning-changing rules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engagement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iwi and hapū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85216" y="1911096"/>
            <a:ext cx="3675888" cy="2858643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pic>
        <p:nvPicPr>
          <p:cNvPr id="6" name="Image 1" descr="Powhiri at Waitangi Treaty Groun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3566160" cy="27489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4806315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Pōwhiri, Waitangi Treaty Grounds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40080" y="5172075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ECDD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22960" y="5263515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wānanga (forums) to carry out whakapapa research and kaupapa discussions at the marae — with formal greetings — across one or several marae.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26280" y="19659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RELEVANT GROUPS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26280" y="2331720"/>
            <a:ext cx="6583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709160" y="23317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Whata Iwi Information Managers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549640" y="233172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 iwi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26280" y="2898648"/>
            <a:ext cx="6583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709160" y="28986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Mana Raraunga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549640" y="28986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Māori Data Sovereignty Network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26280" y="3465576"/>
            <a:ext cx="6583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709160" y="34655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Kāhui Raraunga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549640" y="346557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Iwi Leaders Group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26280" y="4297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DATA UNDER THESE CATEGORIES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526280" y="4663440"/>
            <a:ext cx="768096" cy="411480"/>
          </a:xfrm>
          <a:prstGeom prst="roundRect">
            <a:avLst>
              <a:gd name="adj" fmla="val 50000"/>
            </a:avLst>
          </a:prstGeom>
          <a:solidFill>
            <a:srgbClr val="AE1C1B"/>
          </a:solidFill>
          <a:ln/>
        </p:spPr>
      </p:sp>
      <p:sp>
        <p:nvSpPr>
          <p:cNvPr id="22" name="Text 18"/>
          <p:cNvSpPr/>
          <p:nvPr/>
        </p:nvSpPr>
        <p:spPr>
          <a:xfrm>
            <a:off x="4526280" y="4663440"/>
            <a:ext cx="768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HAPŪ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58968" y="4663440"/>
            <a:ext cx="969264" cy="411480"/>
          </a:xfrm>
          <a:prstGeom prst="roundRect">
            <a:avLst>
              <a:gd name="adj" fmla="val 50000"/>
            </a:avLst>
          </a:prstGeom>
          <a:solidFill>
            <a:srgbClr val="AE1C1B"/>
          </a:solidFill>
          <a:ln/>
        </p:spPr>
      </p:sp>
      <p:sp>
        <p:nvSpPr>
          <p:cNvPr id="24" name="Text 20"/>
          <p:cNvSpPr/>
          <p:nvPr/>
        </p:nvSpPr>
        <p:spPr>
          <a:xfrm>
            <a:off x="5458968" y="4663440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TŪPUNA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592824" y="4663440"/>
            <a:ext cx="868680" cy="411480"/>
          </a:xfrm>
          <a:prstGeom prst="roundRect">
            <a:avLst>
              <a:gd name="adj" fmla="val 50000"/>
            </a:avLst>
          </a:prstGeom>
          <a:solidFill>
            <a:srgbClr val="AE1C1B"/>
          </a:solidFill>
          <a:ln/>
        </p:spPr>
      </p:sp>
      <p:sp>
        <p:nvSpPr>
          <p:cNvPr id="26" name="Text 22"/>
          <p:cNvSpPr/>
          <p:nvPr/>
        </p:nvSpPr>
        <p:spPr>
          <a:xfrm>
            <a:off x="6592824" y="46634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626096" y="466344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AE1C1B"/>
          </a:solidFill>
          <a:ln/>
        </p:spPr>
      </p:sp>
      <p:sp>
        <p:nvSpPr>
          <p:cNvPr id="28" name="Text 24"/>
          <p:cNvSpPr/>
          <p:nvPr/>
        </p:nvSpPr>
        <p:spPr>
          <a:xfrm>
            <a:off x="7626096" y="4663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PAPAKĀINGA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9162288" y="466344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AE1C1B"/>
          </a:solidFill>
          <a:ln/>
        </p:spPr>
      </p:sp>
      <p:sp>
        <p:nvSpPr>
          <p:cNvPr id="30" name="Text 26"/>
          <p:cNvSpPr/>
          <p:nvPr/>
        </p:nvSpPr>
        <p:spPr>
          <a:xfrm>
            <a:off x="9162288" y="4663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 / PUNA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526280" y="5166360"/>
            <a:ext cx="969264" cy="411480"/>
          </a:xfrm>
          <a:prstGeom prst="roundRect">
            <a:avLst>
              <a:gd name="adj" fmla="val 50000"/>
            </a:avLst>
          </a:prstGeom>
          <a:solidFill>
            <a:srgbClr val="AE1C1B"/>
          </a:solidFill>
          <a:ln/>
        </p:spPr>
      </p:sp>
      <p:sp>
        <p:nvSpPr>
          <p:cNvPr id="32" name="Text 28"/>
          <p:cNvSpPr/>
          <p:nvPr/>
        </p:nvSpPr>
        <p:spPr>
          <a:xfrm>
            <a:off x="4526280" y="5166360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MAUNGA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660136" y="5166360"/>
            <a:ext cx="1271016" cy="411480"/>
          </a:xfrm>
          <a:prstGeom prst="roundRect">
            <a:avLst>
              <a:gd name="adj" fmla="val 50000"/>
            </a:avLst>
          </a:prstGeom>
          <a:solidFill>
            <a:srgbClr val="AE1C1B"/>
          </a:solidFill>
          <a:ln/>
        </p:spPr>
      </p:sp>
      <p:sp>
        <p:nvSpPr>
          <p:cNvPr id="34" name="Text 30"/>
          <p:cNvSpPr/>
          <p:nvPr/>
        </p:nvSpPr>
        <p:spPr>
          <a:xfrm>
            <a:off x="5660136" y="5166360"/>
            <a:ext cx="1271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WĀHI TAPU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argument is grounded in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Māori-led frameworks and public evidence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28600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FRAMEWORKS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670048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Mana Raraunga (2018)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916936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Māori Data Sovereignty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Kāhui Raraunga (2023)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447288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Māori Data Governance Model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73075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NZ (2023/2025)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977640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 affiliation concepts and classification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4261104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Whata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4507992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 data and information managers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10312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37960" y="228600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PRACTICE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37960" y="2670048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LEARN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37960" y="2916936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guest lecture and Week 7 brief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37960" y="4261104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et al. (2025)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37960" y="4507992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Hapū data sovereignty: tips for getting started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CREDITS   NZ Government / Office of the Governor-General • W. Bulach • LBM1948 • Allie Caulfield • David Palmer — Wikimedia Commons licences shown in speaker notes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930384" y="466344"/>
            <a:ext cx="2039112" cy="1547622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pic>
        <p:nvPicPr>
          <p:cNvPr id="23" name="Image 1" descr="Tukutuku and poupou carved pane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02920"/>
            <a:ext cx="1965960" cy="147447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784080" y="202311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Tukutuku &amp; poupou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118872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DATA ARE NOT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25880" y="173736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SIMPLY TIDIER DATA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251460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data preserve the raw voice, explain every mapping, and keep meaning-changing decisions under Māori authority.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371600" y="3429000"/>
            <a:ext cx="612648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4D6C3"/>
            </a:solidFill>
            <a:prstDash val="solid"/>
          </a:ln>
          <a:effectLst>
            <a:outerShdw sx="100000" sy="100000" kx="0" ky="0" algn="bl" rotWithShape="0" blurRad="101600" dist="25400" dir="5400000">
              <a:srgbClr val="3A211E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600200" y="3566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1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FINAL POSITION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00200" y="384048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4A0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for consistency. Govern for meaning.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71600" y="5989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   •   PRASANTHI   •   ROBBIE   •   SAHIL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2026-09-05T05:19:38Z</dcterms:created>
  <dcterms:modified xsi:type="dcterms:W3CDTF">2026-09-05T05:19:38Z</dcterms:modified>
</cp:coreProperties>
</file>